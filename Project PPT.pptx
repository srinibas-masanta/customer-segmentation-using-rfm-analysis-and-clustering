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2" r:id="rId13"/>
    <p:sldId id="2146847061" r:id="rId14"/>
    <p:sldId id="268" r:id="rId15"/>
    <p:sldId id="2146847063" r:id="rId16"/>
    <p:sldId id="2146847055" r:id="rId17"/>
    <p:sldId id="269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77C2"/>
    <a:srgbClr val="8C564B"/>
    <a:srgbClr val="9467BD"/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57/dbm.2012.17" TargetMode="External"/><Relationship Id="rId2" Type="http://schemas.openxmlformats.org/officeDocument/2006/relationships/hyperlink" Target="https://scikit-learn.org/stable/auto_examples/cluster/plot_kmeans_silhouette_analysi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ve.ics.uci.edu/dataset/502/online+retail+ii" TargetMode="External"/><Relationship Id="rId4" Type="http://schemas.openxmlformats.org/officeDocument/2006/relationships/hyperlink" Target="https://github.com/srinibas-masanta/Customer-Segmentation-using-RFM-Analysis-and-Clustering.git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Customer Segmentation using RFM Analysis and Clustering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Student </a:t>
            </a:r>
            <a:r>
              <a:rPr lang="en-US" sz="20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Name – Srinibas Masanta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College </a:t>
            </a:r>
            <a:r>
              <a:rPr lang="en-US" sz="20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Name – Dhirubhai Ambani University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Department – MSc Data Science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61" y="677298"/>
            <a:ext cx="10439400" cy="38639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666"/>
            <a:ext cx="10610462" cy="52064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 smtClean="0">
                <a:latin typeface="Arial"/>
                <a:ea typeface="+mn-lt"/>
                <a:cs typeface="Arial"/>
              </a:rPr>
              <a:t>Problem Statement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Project </a:t>
            </a:r>
            <a:r>
              <a:rPr lang="en-US" sz="1800" b="1" dirty="0" smtClean="0">
                <a:latin typeface="Arial"/>
                <a:ea typeface="+mn-lt"/>
                <a:cs typeface="Arial"/>
              </a:rPr>
              <a:t>Objectives</a:t>
            </a:r>
            <a:endParaRPr lang="en-US" sz="1800" b="1" dirty="0">
              <a:latin typeface="Arial"/>
              <a:ea typeface="+mn-lt"/>
              <a:cs typeface="Calibri"/>
            </a:endParaRPr>
          </a:p>
          <a:p>
            <a:r>
              <a:rPr lang="en-US" sz="1800" b="1" dirty="0">
                <a:latin typeface="Arial"/>
                <a:ea typeface="+mn-lt"/>
                <a:cs typeface="+mn-lt"/>
              </a:rPr>
              <a:t>Data Overview</a:t>
            </a:r>
            <a:endParaRPr lang="en-US" sz="1800" b="1" dirty="0" smtClean="0">
              <a:latin typeface="Arial"/>
              <a:ea typeface="+mn-lt"/>
              <a:cs typeface="+mn-lt"/>
            </a:endParaRPr>
          </a:p>
          <a:p>
            <a:r>
              <a:rPr lang="en-US" sz="1800" b="1" dirty="0" smtClean="0">
                <a:latin typeface="Arial"/>
                <a:ea typeface="+mn-lt"/>
                <a:cs typeface="+mn-lt"/>
              </a:rPr>
              <a:t>RFM </a:t>
            </a:r>
            <a:r>
              <a:rPr lang="en-US" sz="1800" b="1" dirty="0">
                <a:latin typeface="Arial"/>
                <a:ea typeface="+mn-lt"/>
                <a:cs typeface="+mn-lt"/>
              </a:rPr>
              <a:t>Framework</a:t>
            </a:r>
            <a:r>
              <a:rPr lang="en-US" sz="1800" b="1" dirty="0">
                <a:latin typeface="Arial"/>
                <a:ea typeface="+mn-lt"/>
                <a:cs typeface="+mn-lt"/>
              </a:rPr>
              <a:t>  </a:t>
            </a:r>
            <a:endParaRPr lang="en-US" sz="1800" dirty="0">
              <a:latin typeface="Arial"/>
              <a:cs typeface="Calibri"/>
            </a:endParaRP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Data Pre-processing &amp; Outlier </a:t>
            </a:r>
            <a:r>
              <a:rPr lang="en-US" sz="1800" b="1" dirty="0" smtClean="0">
                <a:latin typeface="Arial"/>
                <a:ea typeface="+mn-lt"/>
                <a:cs typeface="Arial"/>
              </a:rPr>
              <a:t>Analysis</a:t>
            </a: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Customer Segmentation Approach</a:t>
            </a: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Core Customer Segments (Non-Outliers</a:t>
            </a:r>
            <a:r>
              <a:rPr lang="en-US" sz="1800" b="1" dirty="0" smtClean="0">
                <a:latin typeface="Arial"/>
                <a:ea typeface="+mn-lt"/>
                <a:cs typeface="Arial"/>
              </a:rPr>
              <a:t>)</a:t>
            </a: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Outlier-Based Strategic </a:t>
            </a:r>
            <a:r>
              <a:rPr lang="en-US" sz="1800" b="1" dirty="0" smtClean="0">
                <a:latin typeface="Arial"/>
                <a:ea typeface="+mn-lt"/>
                <a:cs typeface="Arial"/>
              </a:rPr>
              <a:t>Segments</a:t>
            </a: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Cluster Distribution &amp; Summary Statistics</a:t>
            </a: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Business Insights &amp; </a:t>
            </a:r>
            <a:r>
              <a:rPr lang="en-US" sz="1800" b="1" dirty="0" smtClean="0">
                <a:latin typeface="Arial"/>
                <a:ea typeface="+mn-lt"/>
                <a:cs typeface="Arial"/>
              </a:rPr>
              <a:t>Recommendations</a:t>
            </a: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Conclusion &amp; Future </a:t>
            </a:r>
            <a:r>
              <a:rPr lang="en-US" sz="1800" b="1" dirty="0" smtClean="0">
                <a:latin typeface="Arial"/>
                <a:ea typeface="+mn-lt"/>
                <a:cs typeface="Arial"/>
              </a:rPr>
              <a:t>Scope</a:t>
            </a:r>
          </a:p>
          <a:p>
            <a:r>
              <a:rPr lang="en-US" sz="1800" b="1" dirty="0">
                <a:latin typeface="Arial"/>
                <a:ea typeface="+mn-lt"/>
                <a:cs typeface="Arial"/>
              </a:rPr>
              <a:t>References &amp; Project Resources</a:t>
            </a:r>
          </a:p>
          <a:p>
            <a:endParaRPr lang="en-US" sz="2000" b="1" dirty="0" smtClean="0">
              <a:latin typeface="Arial"/>
              <a:ea typeface="+mn-lt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3" name="Rectangle 2"/>
          <p:cNvSpPr/>
          <p:nvPr/>
        </p:nvSpPr>
        <p:spPr>
          <a:xfrm>
            <a:off x="581191" y="1582341"/>
            <a:ext cx="11029615" cy="4196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Problem Overview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Retail businesses serve customers with widely varying purchasing behaviors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Treating all customers uniformly leads to: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Inefficient marketing spend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Missed revenue and retention opportunities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Transactional data exists, but: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unstructured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Does not directly translate into actionable customer segments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Key Challenge</a:t>
            </a: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to transform raw transaction data into meaningful and actionable customer groups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671" y="702156"/>
            <a:ext cx="11169137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cs typeface="Arial" panose="020B0604020202020204" pitchFamily="34" charset="0"/>
              </a:rPr>
              <a:t>Project Objectives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/>
              <a:t>Objectives</a:t>
            </a:r>
            <a:endParaRPr lang="en-US" sz="2400" dirty="0"/>
          </a:p>
          <a:p>
            <a:r>
              <a:rPr lang="en-US" sz="2000" dirty="0"/>
              <a:t>Segment customers based on purchasing behavior</a:t>
            </a:r>
          </a:p>
          <a:p>
            <a:r>
              <a:rPr lang="en-US" sz="2000" dirty="0"/>
              <a:t>Identify:</a:t>
            </a:r>
          </a:p>
          <a:p>
            <a:pPr lvl="1"/>
            <a:r>
              <a:rPr lang="en-US" sz="2000" dirty="0"/>
              <a:t>High-value customers</a:t>
            </a:r>
          </a:p>
          <a:p>
            <a:pPr lvl="1"/>
            <a:r>
              <a:rPr lang="en-US" sz="2000" dirty="0"/>
              <a:t>At-risk customers</a:t>
            </a:r>
          </a:p>
          <a:p>
            <a:pPr lvl="1"/>
            <a:r>
              <a:rPr lang="en-US" sz="2000" dirty="0"/>
              <a:t>Growth-potential customers</a:t>
            </a:r>
          </a:p>
          <a:p>
            <a:r>
              <a:rPr lang="en-US" sz="2000" dirty="0"/>
              <a:t>Enable targeted business strategies such as retention, upselling, and loyalty programs</a:t>
            </a:r>
          </a:p>
          <a:p>
            <a:r>
              <a:rPr lang="en-US" sz="2000" dirty="0"/>
              <a:t>Balance </a:t>
            </a:r>
            <a:r>
              <a:rPr lang="en-US" sz="2000" b="1" dirty="0"/>
              <a:t>cluster quality</a:t>
            </a:r>
            <a:r>
              <a:rPr lang="en-US" sz="2000" dirty="0"/>
              <a:t> with </a:t>
            </a:r>
            <a:r>
              <a:rPr lang="en-US" sz="2000" b="1" dirty="0"/>
              <a:t>business interpretability</a:t>
            </a:r>
            <a:endParaRPr lang="en-US" sz="2000" dirty="0"/>
          </a:p>
          <a:p>
            <a:pPr marL="305435" indent="-305435"/>
            <a:endParaRPr lang="en-IN" sz="1600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ea typeface="+mj-lt"/>
                <a:cs typeface="Arial"/>
              </a:rPr>
              <a:t>Data Overview</a:t>
            </a:r>
            <a:endParaRPr lang="en-US" sz="4400" dirty="0">
              <a:solidFill>
                <a:schemeClr val="accent1"/>
              </a:solidFill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94199"/>
            <a:ext cx="11029616" cy="4688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Dataset Summary</a:t>
            </a:r>
            <a:endParaRPr lang="en-US" sz="2000" dirty="0"/>
          </a:p>
          <a:p>
            <a:r>
              <a:rPr lang="en-US" dirty="0"/>
              <a:t>Retail transactional dataset</a:t>
            </a:r>
          </a:p>
          <a:p>
            <a:r>
              <a:rPr lang="en-US" dirty="0"/>
              <a:t>Key attributes:</a:t>
            </a:r>
          </a:p>
          <a:p>
            <a:pPr lvl="1"/>
            <a:r>
              <a:rPr lang="en-US" dirty="0"/>
              <a:t>Customer ID</a:t>
            </a:r>
          </a:p>
          <a:p>
            <a:pPr lvl="1"/>
            <a:r>
              <a:rPr lang="en-US" dirty="0"/>
              <a:t>Invoice Date</a:t>
            </a:r>
          </a:p>
          <a:p>
            <a:pPr lvl="1"/>
            <a:r>
              <a:rPr lang="en-US" dirty="0"/>
              <a:t>Quantity</a:t>
            </a:r>
          </a:p>
          <a:p>
            <a:pPr lvl="1"/>
            <a:r>
              <a:rPr lang="en-US" dirty="0"/>
              <a:t>Unit Price</a:t>
            </a:r>
          </a:p>
          <a:p>
            <a:r>
              <a:rPr lang="en-US" dirty="0"/>
              <a:t>Aggregated to customer level for analysis</a:t>
            </a:r>
          </a:p>
          <a:p>
            <a:pPr marL="0" indent="0">
              <a:buNone/>
            </a:pPr>
            <a:r>
              <a:rPr lang="en-US" sz="2000" b="1" dirty="0"/>
              <a:t>Data Preparation</a:t>
            </a:r>
            <a:endParaRPr lang="en-US" sz="2000" dirty="0"/>
          </a:p>
          <a:p>
            <a:r>
              <a:rPr lang="en-US" dirty="0"/>
              <a:t>Cleaning and preprocessing performed</a:t>
            </a:r>
          </a:p>
          <a:p>
            <a:r>
              <a:rPr lang="en-US" dirty="0"/>
              <a:t>Approximately </a:t>
            </a:r>
            <a:r>
              <a:rPr lang="en-US" b="1" dirty="0"/>
              <a:t>23% of records removed</a:t>
            </a:r>
            <a:r>
              <a:rPr lang="en-US" dirty="0"/>
              <a:t> due to inconsistencies and noise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86" y="1294199"/>
            <a:ext cx="7196822" cy="21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 smtClean="0">
                <a:solidFill>
                  <a:schemeClr val="accent1"/>
                </a:solidFill>
              </a:rPr>
              <a:t>RFM </a:t>
            </a:r>
            <a:r>
              <a:rPr lang="en-IN" sz="4400" dirty="0">
                <a:solidFill>
                  <a:schemeClr val="accent1"/>
                </a:solidFill>
              </a:rPr>
              <a:t>Framework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799724"/>
            <a:ext cx="4623766" cy="367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/>
              <a:t>RFM Metrics</a:t>
            </a:r>
            <a:endParaRPr lang="en-US" sz="2400" dirty="0"/>
          </a:p>
          <a:p>
            <a:r>
              <a:rPr lang="en-US" sz="1800" b="1" dirty="0" err="1"/>
              <a:t>Recency</a:t>
            </a:r>
            <a:r>
              <a:rPr lang="en-US" sz="1800" b="1" dirty="0"/>
              <a:t>:</a:t>
            </a:r>
            <a:r>
              <a:rPr lang="en-US" sz="1800" dirty="0"/>
              <a:t> Days since last purchase</a:t>
            </a:r>
          </a:p>
          <a:p>
            <a:r>
              <a:rPr lang="en-US" sz="1800" b="1" dirty="0"/>
              <a:t>Frequency:</a:t>
            </a:r>
            <a:r>
              <a:rPr lang="en-US" sz="1800" dirty="0"/>
              <a:t> Number of transactions</a:t>
            </a:r>
          </a:p>
          <a:p>
            <a:r>
              <a:rPr lang="en-US" sz="1800" b="1" dirty="0"/>
              <a:t>Monetary Value:</a:t>
            </a:r>
            <a:r>
              <a:rPr lang="en-US" sz="1800" dirty="0"/>
              <a:t> Total customer spend</a:t>
            </a:r>
          </a:p>
          <a:p>
            <a:pPr marL="0" indent="0">
              <a:buNone/>
            </a:pPr>
            <a:r>
              <a:rPr lang="en-US" sz="2400" b="1" dirty="0"/>
              <a:t>Why RFM?</a:t>
            </a:r>
            <a:endParaRPr lang="en-US" sz="2400" dirty="0"/>
          </a:p>
          <a:p>
            <a:r>
              <a:rPr lang="en-US" sz="1800" dirty="0"/>
              <a:t>Captures customer engagement and value</a:t>
            </a:r>
          </a:p>
          <a:p>
            <a:r>
              <a:rPr lang="en-US" sz="1800" dirty="0"/>
              <a:t>Widely used in marketing analytics</a:t>
            </a:r>
          </a:p>
          <a:p>
            <a:r>
              <a:rPr lang="en-US" sz="1800" dirty="0"/>
              <a:t>Interpretable for business stakeholders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361" y="1768306"/>
            <a:ext cx="5847447" cy="374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1"/>
                </a:solidFill>
              </a:rPr>
              <a:t>Data </a:t>
            </a:r>
            <a:r>
              <a:rPr lang="en-IN" sz="4400" dirty="0" smtClean="0">
                <a:solidFill>
                  <a:schemeClr val="accent1"/>
                </a:solidFill>
              </a:rPr>
              <a:t>Pre-processing </a:t>
            </a:r>
            <a:r>
              <a:rPr lang="en-IN" sz="4400" dirty="0">
                <a:solidFill>
                  <a:schemeClr val="accent1"/>
                </a:solidFill>
              </a:rPr>
              <a:t>&amp; Outlier Analysis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1344790"/>
            <a:ext cx="11029615" cy="564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Data Preprocessing</a:t>
            </a:r>
            <a:endParaRPr lang="en-US" sz="2000" dirty="0"/>
          </a:p>
          <a:p>
            <a:r>
              <a:rPr lang="en-US" dirty="0"/>
              <a:t>Cleaned the raw transactional dataset by handling </a:t>
            </a:r>
            <a:r>
              <a:rPr lang="en-US" b="1" dirty="0"/>
              <a:t>missing values, invalid entries, and inconsistencies</a:t>
            </a:r>
            <a:endParaRPr lang="en-US" dirty="0"/>
          </a:p>
          <a:p>
            <a:r>
              <a:rPr lang="en-US" dirty="0"/>
              <a:t>Aggregated transaction-level data to the </a:t>
            </a:r>
            <a:r>
              <a:rPr lang="en-US" b="1" dirty="0"/>
              <a:t>customer level</a:t>
            </a:r>
            <a:r>
              <a:rPr lang="en-US" dirty="0"/>
              <a:t> to compute </a:t>
            </a:r>
            <a:r>
              <a:rPr lang="en-US" b="1" dirty="0" err="1"/>
              <a:t>Recency</a:t>
            </a:r>
            <a:r>
              <a:rPr lang="en-US" b="1" dirty="0"/>
              <a:t>, Frequency, and Monetary (RFM)</a:t>
            </a:r>
            <a:r>
              <a:rPr lang="en-US" dirty="0"/>
              <a:t> features</a:t>
            </a:r>
          </a:p>
          <a:p>
            <a:r>
              <a:rPr lang="en-US" dirty="0"/>
              <a:t>Removed records with insufficient or unreliable information, resulting in a cleaner and more consistent dataset</a:t>
            </a:r>
          </a:p>
          <a:p>
            <a:r>
              <a:rPr lang="en-US" dirty="0"/>
              <a:t>Standardized RFM features to ensure </a:t>
            </a:r>
            <a:r>
              <a:rPr lang="en-US" b="1" dirty="0"/>
              <a:t>equal contribution during distance-based clustering</a:t>
            </a:r>
            <a:endParaRPr lang="en-US" dirty="0"/>
          </a:p>
          <a:p>
            <a:pPr marL="0" indent="0">
              <a:buNone/>
            </a:pPr>
            <a:r>
              <a:rPr lang="en-US" sz="2000" b="1" dirty="0"/>
              <a:t>Outlier Analysis</a:t>
            </a:r>
            <a:endParaRPr lang="en-US" sz="2000" dirty="0"/>
          </a:p>
          <a:p>
            <a:r>
              <a:rPr lang="en-US" dirty="0"/>
              <a:t>Identified </a:t>
            </a:r>
            <a:r>
              <a:rPr lang="en-US" b="1" dirty="0"/>
              <a:t>extreme values in Monetary and Frequency</a:t>
            </a:r>
            <a:r>
              <a:rPr lang="en-US" dirty="0"/>
              <a:t> using statistical methods</a:t>
            </a:r>
          </a:p>
          <a:p>
            <a:r>
              <a:rPr lang="en-US" dirty="0"/>
              <a:t>Categorized outliers into:</a:t>
            </a:r>
          </a:p>
          <a:p>
            <a:pPr lvl="1"/>
            <a:r>
              <a:rPr lang="en-US" dirty="0"/>
              <a:t>Monetary-only outliers</a:t>
            </a:r>
          </a:p>
          <a:p>
            <a:pPr lvl="1"/>
            <a:r>
              <a:rPr lang="en-US" dirty="0"/>
              <a:t>Frequency-only outliers</a:t>
            </a:r>
          </a:p>
          <a:p>
            <a:r>
              <a:rPr lang="en-US" dirty="0" smtClean="0"/>
              <a:t>Temporarily </a:t>
            </a:r>
            <a:r>
              <a:rPr lang="en-US" dirty="0"/>
              <a:t>separated outliers before K-means clustering to prevent distortion of cluster centroids</a:t>
            </a:r>
          </a:p>
          <a:p>
            <a:r>
              <a:rPr lang="en-US" dirty="0"/>
              <a:t>Analyzed outliers independently as they often represent </a:t>
            </a:r>
            <a:r>
              <a:rPr lang="en-US" b="1" dirty="0"/>
              <a:t>strategically important, high-impact customers</a:t>
            </a:r>
            <a:endParaRPr lang="en-US" dirty="0"/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1"/>
                </a:solidFill>
              </a:rPr>
              <a:t>Customer Segmentation Approach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1193" y="1391479"/>
            <a:ext cx="5194767" cy="229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/>
              <a:t>Clustering Strategy</a:t>
            </a:r>
            <a:endParaRPr lang="en-IN" sz="2000" dirty="0"/>
          </a:p>
          <a:p>
            <a:r>
              <a:rPr lang="en-IN" dirty="0"/>
              <a:t>K-means clustering applied to non-outlier customers</a:t>
            </a:r>
          </a:p>
          <a:p>
            <a:r>
              <a:rPr lang="en-IN" dirty="0"/>
              <a:t>Number of clusters evaluated using:</a:t>
            </a:r>
          </a:p>
          <a:p>
            <a:pPr lvl="1"/>
            <a:r>
              <a:rPr lang="en-IN" dirty="0"/>
              <a:t>Elbow method</a:t>
            </a:r>
          </a:p>
          <a:p>
            <a:pPr lvl="1"/>
            <a:r>
              <a:rPr lang="en-IN" dirty="0"/>
              <a:t>Silhouette </a:t>
            </a:r>
            <a:r>
              <a:rPr lang="en-IN" dirty="0" smtClean="0"/>
              <a:t>analysis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5960" y="1391479"/>
            <a:ext cx="5194769" cy="2051517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Cluster Selection</a:t>
            </a:r>
            <a:endParaRPr lang="en-IN" sz="2000" dirty="0"/>
          </a:p>
          <a:p>
            <a:r>
              <a:rPr lang="en-IN" dirty="0"/>
              <a:t>Silhouette score peaked at </a:t>
            </a:r>
            <a:r>
              <a:rPr lang="en-IN" i="1" dirty="0"/>
              <a:t>k = 3</a:t>
            </a:r>
            <a:endParaRPr lang="en-IN" dirty="0"/>
          </a:p>
          <a:p>
            <a:r>
              <a:rPr lang="en-IN" i="1" dirty="0"/>
              <a:t>k = 4</a:t>
            </a:r>
            <a:r>
              <a:rPr lang="en-IN" dirty="0"/>
              <a:t> chosen as it:</a:t>
            </a:r>
          </a:p>
          <a:p>
            <a:pPr lvl="1"/>
            <a:r>
              <a:rPr lang="en-IN" dirty="0"/>
              <a:t>Maintains strong separation</a:t>
            </a:r>
          </a:p>
          <a:p>
            <a:pPr lvl="1"/>
            <a:r>
              <a:rPr lang="en-IN" dirty="0"/>
              <a:t>Improves business interpretability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60" y="3682876"/>
            <a:ext cx="7287282" cy="309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5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1"/>
                </a:solidFill>
              </a:rPr>
              <a:t>Core Customer Segments (Non-Outliers)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724030"/>
            <a:ext cx="5511698" cy="388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/>
              <a:t>Identified Segments</a:t>
            </a:r>
            <a:endParaRPr lang="en-US" sz="2400" dirty="0"/>
          </a:p>
          <a:p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</a:rPr>
              <a:t>RETAIN</a:t>
            </a:r>
            <a:r>
              <a:rPr lang="en-US" sz="1600" b="1" dirty="0" smtClean="0"/>
              <a:t>:</a:t>
            </a:r>
            <a:r>
              <a:rPr lang="en-US" sz="1600" dirty="0" smtClean="0"/>
              <a:t> </a:t>
            </a:r>
            <a:r>
              <a:rPr lang="en-US" sz="1600" dirty="0"/>
              <a:t>Loyal and recent high-value customers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REWARD</a:t>
            </a:r>
            <a:r>
              <a:rPr lang="en-US" sz="1600" b="1" dirty="0"/>
              <a:t>:</a:t>
            </a:r>
            <a:r>
              <a:rPr lang="en-US" sz="1600" dirty="0"/>
              <a:t> High-value and frequent customers</a:t>
            </a:r>
          </a:p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NURTURE</a:t>
            </a:r>
            <a:r>
              <a:rPr lang="en-US" sz="1600" b="1" dirty="0"/>
              <a:t>:</a:t>
            </a:r>
            <a:r>
              <a:rPr lang="en-US" sz="1600" dirty="0"/>
              <a:t> Low frequency and moderate spenders</a:t>
            </a:r>
          </a:p>
          <a:p>
            <a:r>
              <a:rPr lang="en-US" sz="1600" b="1" dirty="0">
                <a:solidFill>
                  <a:srgbClr val="FFC000"/>
                </a:solidFill>
              </a:rPr>
              <a:t>RE-ENGAGE</a:t>
            </a:r>
            <a:r>
              <a:rPr lang="en-US" sz="1600" b="1" dirty="0"/>
              <a:t>:</a:t>
            </a:r>
            <a:r>
              <a:rPr lang="en-US" sz="1600" dirty="0"/>
              <a:t> Inactive or at-risk customers</a:t>
            </a:r>
          </a:p>
          <a:p>
            <a:pPr marL="0" indent="0">
              <a:buNone/>
            </a:pPr>
            <a:r>
              <a:rPr lang="en-US" sz="2400" b="1" dirty="0"/>
              <a:t>Interpretation</a:t>
            </a:r>
            <a:endParaRPr lang="en-US" sz="2400" dirty="0"/>
          </a:p>
          <a:p>
            <a:r>
              <a:rPr lang="en-US" sz="1600" dirty="0"/>
              <a:t>Each cluster reflects distinct purchasing behavior</a:t>
            </a:r>
          </a:p>
          <a:p>
            <a:r>
              <a:rPr lang="en-US" sz="1600" dirty="0"/>
              <a:t>Enables targeted marketing strategies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967" y="1379272"/>
            <a:ext cx="4640841" cy="473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2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1"/>
                </a:solidFill>
              </a:rPr>
              <a:t>Outlier-Based Strategic Segments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70852" y="1232452"/>
            <a:ext cx="4710475" cy="4028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/>
              <a:t>Special Outlier Segments</a:t>
            </a:r>
            <a:endParaRPr lang="en-US" sz="2400" dirty="0"/>
          </a:p>
          <a:p>
            <a:r>
              <a:rPr lang="en-US" sz="1600" b="1" dirty="0">
                <a:solidFill>
                  <a:srgbClr val="9467BD"/>
                </a:solidFill>
              </a:rPr>
              <a:t>PAMPER</a:t>
            </a:r>
            <a:r>
              <a:rPr lang="en-US" sz="1600" b="1" dirty="0"/>
              <a:t>:</a:t>
            </a:r>
            <a:r>
              <a:rPr lang="en-US" sz="1600" dirty="0"/>
              <a:t> High spend, low frequency</a:t>
            </a:r>
          </a:p>
          <a:p>
            <a:r>
              <a:rPr lang="en-US" sz="1600" b="1" dirty="0">
                <a:solidFill>
                  <a:srgbClr val="8C564B"/>
                </a:solidFill>
              </a:rPr>
              <a:t>UPSELL</a:t>
            </a:r>
            <a:r>
              <a:rPr lang="en-US" sz="1600" b="1" dirty="0"/>
              <a:t>:</a:t>
            </a:r>
            <a:r>
              <a:rPr lang="en-US" sz="1600" dirty="0"/>
              <a:t> High frequency, low spend per transaction</a:t>
            </a:r>
          </a:p>
          <a:p>
            <a:r>
              <a:rPr lang="en-US" sz="1600" b="1" dirty="0">
                <a:solidFill>
                  <a:srgbClr val="E377C2"/>
                </a:solidFill>
              </a:rPr>
              <a:t>DELIGHT</a:t>
            </a:r>
            <a:r>
              <a:rPr lang="en-US" sz="1600" b="1" dirty="0"/>
              <a:t>:</a:t>
            </a:r>
            <a:r>
              <a:rPr lang="en-US" sz="1600" dirty="0"/>
              <a:t> High frequency and high monetary value</a:t>
            </a:r>
          </a:p>
          <a:p>
            <a:pPr marL="0" indent="0">
              <a:buNone/>
            </a:pPr>
            <a:r>
              <a:rPr lang="en-US" sz="2400" b="1" dirty="0"/>
              <a:t>Why Treat Separately?</a:t>
            </a:r>
            <a:endParaRPr lang="en-US" sz="2400" dirty="0"/>
          </a:p>
          <a:p>
            <a:r>
              <a:rPr lang="en-US" sz="1600" dirty="0"/>
              <a:t>These customers require personalized strategies</a:t>
            </a:r>
          </a:p>
          <a:p>
            <a:r>
              <a:rPr lang="en-US" sz="1600" dirty="0"/>
              <a:t>Small in number, high business impact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74" y="1232452"/>
            <a:ext cx="3682898" cy="55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2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>
                <a:solidFill>
                  <a:schemeClr val="accent1"/>
                </a:solidFill>
              </a:rPr>
              <a:t>Cluster Distribution &amp; Summary Statistics</a:t>
            </a:r>
            <a:endParaRPr lang="en-US" sz="2400" dirty="0">
              <a:solidFill>
                <a:schemeClr val="accent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487" y="1576872"/>
            <a:ext cx="5919321" cy="38779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192" y="1576873"/>
            <a:ext cx="5131837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Combined </a:t>
            </a:r>
            <a:r>
              <a:rPr lang="en-US" altLang="en-US" b="1" dirty="0"/>
              <a:t>bar + line chart</a:t>
            </a:r>
            <a:r>
              <a:rPr lang="en-US" altLang="en-US" dirty="0"/>
              <a:t> visualizes: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/>
              <a:t>Customer count per cluster</a:t>
            </a:r>
            <a:r>
              <a:rPr lang="en-US" altLang="en-US" sz="1600" dirty="0"/>
              <a:t> (bar)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/>
              <a:t>Average </a:t>
            </a:r>
            <a:r>
              <a:rPr lang="en-US" altLang="en-US" sz="1600" b="1" dirty="0" err="1"/>
              <a:t>Recency</a:t>
            </a:r>
            <a:r>
              <a:rPr lang="en-US" altLang="en-US" sz="1600" b="1" dirty="0"/>
              <a:t>, Frequency, Monetary value</a:t>
            </a:r>
            <a:r>
              <a:rPr lang="en-US" altLang="en-US" sz="1600" dirty="0"/>
              <a:t> (line)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NURTURE</a:t>
            </a:r>
            <a:r>
              <a:rPr lang="en-US" altLang="en-US" dirty="0"/>
              <a:t> is the largest cluster, indicating many low-engagement customers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RE-ENGAGE</a:t>
            </a:r>
            <a:r>
              <a:rPr lang="en-US" altLang="en-US" dirty="0"/>
              <a:t> shows high </a:t>
            </a:r>
            <a:r>
              <a:rPr lang="en-US" altLang="en-US" dirty="0" err="1"/>
              <a:t>recency</a:t>
            </a:r>
            <a:r>
              <a:rPr lang="en-US" altLang="en-US" dirty="0"/>
              <a:t>, reflecting inactive customers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RETAIN</a:t>
            </a:r>
            <a:r>
              <a:rPr lang="en-US" altLang="en-US" dirty="0"/>
              <a:t> exhibits balanced RFM values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REWARD</a:t>
            </a:r>
            <a:r>
              <a:rPr lang="en-US" altLang="en-US" dirty="0"/>
              <a:t> is smaller but shows higher frequency and spend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/>
              <a:t>DELIGHT, PAMPER, UPSELL</a:t>
            </a:r>
            <a:r>
              <a:rPr lang="en-US" altLang="en-US" dirty="0"/>
              <a:t> represent a small yet high-value customer 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1"/>
                </a:solidFill>
              </a:rPr>
              <a:t>Business Insights &amp; Recommendations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192" y="1506046"/>
            <a:ext cx="11029616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Majority of customers fall into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 to mid-engagement segments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small proportion of customers drives disproportionate revenue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Different clusters require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distinct business strategies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not a one-size-fits-all approach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Focus areas: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NURTURE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Gradual engagement and onboarding strategies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RE-ENGAGE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Targeted reactivation campaigns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RETAIN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Consistent engagement to maintain loyalty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REWARD / DELIGHT / PAMPER / UPSELL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Personalized offers and premium experiences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742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dirty="0">
                <a:solidFill>
                  <a:schemeClr val="accent1"/>
                </a:solidFill>
              </a:rPr>
              <a:t>Conclusion &amp; Future Scope</a:t>
            </a:r>
            <a:endParaRPr lang="en-US" sz="4400" b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651508"/>
            <a:ext cx="725955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Conclusion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Successfully transformed transactional data into actionable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Combined clustering with outlier analysis for deeper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Delivered interpretable and business-ready segmentation</a:t>
            </a:r>
          </a:p>
          <a:p>
            <a:endParaRPr lang="en-US" b="1" dirty="0" smtClean="0"/>
          </a:p>
          <a:p>
            <a:r>
              <a:rPr lang="en-US" sz="2400" b="1" dirty="0" smtClean="0"/>
              <a:t>Future </a:t>
            </a:r>
            <a:r>
              <a:rPr lang="en-US" sz="2400" b="1" dirty="0"/>
              <a:t>Scope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Lifetime Value (CLV)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segmentation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 with dashboards or CRM systems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1"/>
                </a:solidFill>
              </a:rPr>
              <a:t>References &amp; Project Resources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6548" y="1511558"/>
            <a:ext cx="1033562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References</a:t>
            </a:r>
            <a:endParaRPr lang="en-IN" dirty="0"/>
          </a:p>
          <a:p>
            <a:r>
              <a:rPr lang="en-IN" dirty="0" err="1" smtClean="0"/>
              <a:t>Scikit</a:t>
            </a:r>
            <a:r>
              <a:rPr lang="en-IN" dirty="0" smtClean="0"/>
              <a:t>-learn </a:t>
            </a:r>
            <a:r>
              <a:rPr lang="en-IN" dirty="0"/>
              <a:t>Documentation — K-means Clustering &amp; Silhouette Analysis: </a:t>
            </a:r>
            <a:r>
              <a:rPr lang="en-IN" dirty="0">
                <a:hlinkClick r:id="rId2"/>
              </a:rPr>
              <a:t>https://</a:t>
            </a:r>
            <a:r>
              <a:rPr lang="en-IN" dirty="0" smtClean="0">
                <a:hlinkClick r:id="rId2"/>
              </a:rPr>
              <a:t>scikit-learn.org/stable/auto_examples/cluster/plot_kmeans_silhouette_analysis.html</a:t>
            </a:r>
            <a:endParaRPr lang="en-IN" dirty="0"/>
          </a:p>
          <a:p>
            <a:r>
              <a:rPr lang="en-IN" dirty="0"/>
              <a:t>Academic references on RFM Analysis and Customer Segmentation: </a:t>
            </a:r>
            <a:r>
              <a:rPr lang="en-IN" dirty="0">
                <a:hlinkClick r:id="rId3"/>
              </a:rPr>
              <a:t>https://</a:t>
            </a:r>
            <a:r>
              <a:rPr lang="en-IN" dirty="0" smtClean="0">
                <a:hlinkClick r:id="rId3"/>
              </a:rPr>
              <a:t>link.springer.com/article/10.1057/dbm.2012.17</a:t>
            </a:r>
            <a:endParaRPr lang="en-IN" dirty="0" smtClean="0"/>
          </a:p>
          <a:p>
            <a:endParaRPr lang="en-IN" dirty="0"/>
          </a:p>
          <a:p>
            <a:endParaRPr lang="en-IN" b="1" dirty="0" smtClean="0"/>
          </a:p>
          <a:p>
            <a:r>
              <a:rPr lang="en-IN" sz="2400" b="1" dirty="0" smtClean="0"/>
              <a:t>Project </a:t>
            </a:r>
            <a:r>
              <a:rPr lang="en-IN" sz="2400" b="1" dirty="0"/>
              <a:t>Resources</a:t>
            </a:r>
            <a:endParaRPr lang="en-IN" sz="2400" dirty="0"/>
          </a:p>
          <a:p>
            <a:r>
              <a:rPr lang="en-IN" dirty="0"/>
              <a:t>GitHub Repository: </a:t>
            </a:r>
            <a:r>
              <a:rPr lang="en-IN" i="1" dirty="0">
                <a:hlinkClick r:id="rId4"/>
              </a:rPr>
              <a:t>https://</a:t>
            </a:r>
            <a:r>
              <a:rPr lang="en-IN" i="1" dirty="0" smtClean="0">
                <a:hlinkClick r:id="rId4"/>
              </a:rPr>
              <a:t>github.com/srinibas-masanta/Customer-Segmentation-using-RFM-Analysis-and-Clustering.git</a:t>
            </a:r>
            <a:endParaRPr lang="en-IN" i="1" dirty="0" smtClean="0"/>
          </a:p>
          <a:p>
            <a:r>
              <a:rPr lang="en-IN" dirty="0"/>
              <a:t>Online Retail II Dataset — UCI Machine Learning Repository: </a:t>
            </a:r>
            <a:r>
              <a:rPr lang="en-IN" dirty="0">
                <a:hlinkClick r:id="rId5"/>
              </a:rPr>
              <a:t>https://</a:t>
            </a:r>
            <a:r>
              <a:rPr lang="en-IN" dirty="0" smtClean="0">
                <a:hlinkClick r:id="rId5"/>
              </a:rPr>
              <a:t>archive.ics.uci.edu/dataset/502/online+retail+ii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1126</TotalTime>
  <Words>730</Words>
  <Application>Microsoft Office PowerPoint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Customer Segmentation using RFM Analysis and Clustering</vt:lpstr>
      <vt:lpstr>OUTLINE</vt:lpstr>
      <vt:lpstr>Problem Statement</vt:lpstr>
      <vt:lpstr>Project Objectives</vt:lpstr>
      <vt:lpstr>Data Overview</vt:lpstr>
      <vt:lpstr>RFM Framework</vt:lpstr>
      <vt:lpstr>Data Pre-processing &amp; Outlier Analysis</vt:lpstr>
      <vt:lpstr>Customer Segmentation Approach</vt:lpstr>
      <vt:lpstr>Core Customer Segments (Non-Outliers)</vt:lpstr>
      <vt:lpstr>Outlier-Based Strategic Segments</vt:lpstr>
      <vt:lpstr>Cluster Distribution &amp; Summary Statistics</vt:lpstr>
      <vt:lpstr>Business Insights &amp; Recommendations</vt:lpstr>
      <vt:lpstr>PowerPoint Presentation</vt:lpstr>
      <vt:lpstr>References &amp; Project Resources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masan</cp:lastModifiedBy>
  <cp:revision>47</cp:revision>
  <dcterms:created xsi:type="dcterms:W3CDTF">2021-05-26T16:50:10Z</dcterms:created>
  <dcterms:modified xsi:type="dcterms:W3CDTF">2026-01-28T14:06:16Z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